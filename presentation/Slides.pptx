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zeret Mono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ExtraBold" panose="020B0604020202020204" charset="0"/>
      <p:bold r:id="rId24"/>
      <p:boldItalic r:id="rId25"/>
    </p:embeddedFont>
    <p:embeddedFont>
      <p:font typeface="Urbanist Medium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2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7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9375" y="1550789"/>
            <a:ext cx="69532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3662" y="4916685"/>
            <a:ext cx="24955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19712" y="4916685"/>
            <a:ext cx="21812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91437" y="4916685"/>
            <a:ext cx="1866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05276" y="2150864"/>
            <a:ext cx="11581447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ChainShield: Explainable Supply-Chain </a:t>
            </a:r>
            <a:r>
              <a:rPr lang="en-US" sz="42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Resilience</a:t>
            </a: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Copilot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3621285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Converting supply chain disruptions into deterministic, auditable action plans in under 60 seconds.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867025" y="1655564"/>
            <a:ext cx="1943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Team: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Azeret Mono"/>
                <a:ea typeface="Azeret Mono"/>
                <a:cs typeface="Azeret Mono"/>
                <a:sym typeface="Azeret Mono"/>
              </a:rPr>
              <a:t>ChainShield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95875" y="1655564"/>
            <a:ext cx="422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Track: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Azeret Mono"/>
                <a:ea typeface="Azeret Mono"/>
                <a:cs typeface="Azeret Mono"/>
                <a:sym typeface="Azeret Mono"/>
              </a:rPr>
              <a:t>AI &amp; Supply Chain Optimization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553842"/>
            <a:ext cx="52768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877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2056507"/>
            <a:ext cx="527685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single port disruption can cascade across hundreds of shipments.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81050" y="4753867"/>
            <a:ext cx="4876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Azeret Mono"/>
                <a:ea typeface="Azeret Mono"/>
                <a:cs typeface="Azeret Mono"/>
                <a:sym typeface="Azeret Mono"/>
              </a:rPr>
              <a:t>SAMPLE SHIPMENT IMPACT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81050" y="5030092"/>
            <a:ext cx="48768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$520,000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81050" y="5439667"/>
            <a:ext cx="4876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Cargo Value Stalled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3086992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Meanwhile,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idle assets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sit unused.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3639442"/>
            <a:ext cx="4895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Cold-chain damage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may remain invisible until delivery.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Cascading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Disruption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4414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9659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4125" y="2056500"/>
            <a:ext cx="5276850" cy="37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28950"/>
            <a:ext cx="34861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3028950"/>
            <a:ext cx="34861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3028950"/>
            <a:ext cx="348615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2276475"/>
            <a:ext cx="84867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Operations teams need to answer three questions immediately during a crisis: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76300" y="3924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What is Affected?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4391025"/>
            <a:ext cx="28956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Tracking blocked shipment routes as geographic disruptions cascade.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48200" y="3924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What Moves Instead?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8200" y="4391025"/>
            <a:ext cx="28956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Locating idle trucks and determining viable alternative routes.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20100" y="3924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Is Cargo at Risk?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38200" y="4248150"/>
            <a:ext cx="24594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Monitoring if temperature-sensitive cargo is approaching excursion thresh</a:t>
            </a:r>
            <a:r>
              <a:rPr lang="en-US" sz="165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old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335280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33528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33528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The Operator's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Trilemma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81025" y="581025"/>
            <a:ext cx="519064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Disruption to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Decision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1228725"/>
            <a:ext cx="4943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1919287"/>
            <a:ext cx="494347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ChainShield</a:t>
            </a:r>
            <a:r>
              <a:rPr lang="en-US" sz="22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converts disruption signals and sensor logs into an explainable action plan in under 60 seconds.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4033837"/>
            <a:ext cx="4562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Operator activates the disruption scenario.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4586287"/>
            <a:ext cx="4562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System ingests signals and evaluates impact.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62025" y="5138737"/>
            <a:ext cx="45624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Generates optimized, verified routing recommendations.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9098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643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19588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5">
            <a:alphaModFix/>
          </a:blip>
          <a:srcRect l="17894" r="17900"/>
          <a:stretch/>
        </p:blipFill>
        <p:spPr>
          <a:xfrm>
            <a:off x="6128875" y="2085200"/>
            <a:ext cx="5572825" cy="36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90800"/>
            <a:ext cx="53721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90800"/>
            <a:ext cx="53721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29150"/>
            <a:ext cx="53721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629150"/>
            <a:ext cx="53721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1524000"/>
            <a:ext cx="11029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impact engine uses route overlap and time-window analysis to identify exactly which shipments are affected and why.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76300" y="2886075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AFFECTED SHIPMENTS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3190875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4444"/>
                </a:solidFill>
                <a:latin typeface="Azeret Mono"/>
                <a:ea typeface="Azeret Mono"/>
                <a:cs typeface="Azeret Mono"/>
                <a:sym typeface="Azeret Mono"/>
              </a:rPr>
              <a:t>42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76300" y="3733800"/>
            <a:ext cx="4781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Reason Code: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534150" y="2886075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CARGO VALUE AT RISK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34150" y="3190875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4444"/>
                </a:solidFill>
                <a:latin typeface="Azeret Mono"/>
                <a:ea typeface="Azeret Mono"/>
                <a:cs typeface="Azeret Mono"/>
                <a:sym typeface="Azeret Mono"/>
              </a:rPr>
              <a:t>$8.7M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34150" y="3733800"/>
            <a:ext cx="4781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Aggregated financial exposure evaluated instantly.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76300" y="4924425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PREDICTED SLA BREACHES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300" y="5229225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4444"/>
                </a:solidFill>
                <a:latin typeface="Azeret Mono"/>
                <a:ea typeface="Azeret Mono"/>
                <a:cs typeface="Azeret Mono"/>
                <a:sym typeface="Azeret Mono"/>
              </a:rPr>
              <a:t>11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76300" y="5772150"/>
            <a:ext cx="4781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Reason Code: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34150" y="4924425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COLD-CHAIN SHIPMENTS AT RISK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34150" y="5229225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F4444"/>
                </a:solidFill>
                <a:latin typeface="Azeret Mono"/>
                <a:ea typeface="Azeret Mono"/>
                <a:cs typeface="Azeret Mono"/>
                <a:sym typeface="Azeret Mono"/>
              </a:rPr>
              <a:t>4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34150" y="5772150"/>
            <a:ext cx="4781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Reason Code: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71700" y="3743325"/>
            <a:ext cx="22574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71700" y="5781675"/>
            <a:ext cx="1885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29550" y="5781675"/>
            <a:ext cx="2257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81025" y="476250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Automated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Impact Detection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809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71762"/>
            <a:ext cx="34861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71762"/>
            <a:ext cx="34861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71762"/>
            <a:ext cx="34861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967037"/>
            <a:ext cx="28956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967037"/>
            <a:ext cx="28956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967037"/>
            <a:ext cx="28956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81025" y="1643062"/>
            <a:ext cx="10658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system checks real carrier availability and ranks feasible alternatives by time, cost, capacity, and cold-chain risk.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876300" y="35099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Carrier A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648200" y="35099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Carrier B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420100" y="35099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Carrier C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257300" y="41671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+17.2 hours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57300" y="46243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Unavailable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029200" y="41671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+5.4 hours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029200" y="46243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$1,800 add'l cost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029200" y="50815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Reefer capacity available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801100" y="41671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+12.0 hours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801100" y="46243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$800 add'l cost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01100" y="5081587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Deadline breached</a:t>
            </a:r>
            <a:endParaRPr/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42148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6300" y="4672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8200" y="42148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48200" y="4672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48200" y="51292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0100" y="42148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0100" y="4672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0100" y="51292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Constraint-Based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Rerouting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5012"/>
            <a:ext cx="91059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67050" y="2395537"/>
            <a:ext cx="22288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1333500" y="5272087"/>
            <a:ext cx="9525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ChainShield finds idle compatible assets that can be redeployed to protect high-priority shipments. Asset matching is constrained by mode, reefer capability, capacity, and availability time.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609850"/>
            <a:ext cx="17145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2550" y="30480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3067050" y="2938462"/>
            <a:ext cx="654081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TRUCK-17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3448050" y="3586162"/>
            <a:ext cx="26384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42 km away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3448050" y="4043362"/>
            <a:ext cx="26384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Reefer capable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57975" y="3586162"/>
            <a:ext cx="26384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Available in 25 minutes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657975" y="4043362"/>
            <a:ext cx="26384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Compatible with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SHP-0042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67050" y="36337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67050" y="40909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76975" y="36337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76975" y="409098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Idle Asset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Redeployment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90862"/>
            <a:ext cx="18478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581025" y="1909762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cold-chain engine detects the excursion before delivery, identifies the policy breach, and records the evidence for review.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81025" y="5481637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*The system uses configurable policy profiles, not hardcoded thresholds, adapting to different products and jurisdictions.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57400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62025" y="3824287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Policy range: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2°C to 8°C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62025" y="4376737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Observed maximum: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10.4°C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62025" y="4929187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Duration out of range: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18 minutes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Pre-Delivery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Excursion Detection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881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3388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986337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43175"/>
            <a:ext cx="52768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43175"/>
            <a:ext cx="52768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581025" y="1628775"/>
            <a:ext cx="110299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language model does not make the operational decision. It explains deterministic results, cites the evidence, and exposes uncertainty.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76300" y="283845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Why this recommendation?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76300" y="3305175"/>
            <a:ext cx="46863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Every recommendation includes reason codes and source data so operators can audit and trust the decision.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257300" y="4581525"/>
            <a:ext cx="4305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Affected because: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010400" y="3028950"/>
            <a:ext cx="4305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Recommended because:</a:t>
            </a:r>
            <a:endParaRPr/>
          </a:p>
        </p:txBody>
      </p:sp>
      <p:pic>
        <p:nvPicPr>
          <p:cNvPr id="257" name="Google Shape;25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1925" y="5113883"/>
            <a:ext cx="2381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57300" y="5038725"/>
            <a:ext cx="1933575" cy="30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57300" y="5489227"/>
            <a:ext cx="1619250" cy="30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10400" y="3486150"/>
            <a:ext cx="2771775" cy="30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10400" y="3936652"/>
            <a:ext cx="1619250" cy="30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010400" y="4387155"/>
            <a:ext cx="1409700" cy="30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6300" y="4629150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29400" y="307657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Explainability &amp;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Evidence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581025" y="1885950"/>
            <a:ext cx="5276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All core logic runs locally with cached data; external APIs are optional and have timeouts and fallbacks.</a:t>
            </a:r>
            <a:endParaRPr/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57400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962025" y="270510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Frontend: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React + TypeScript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62025" y="325755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Backend: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FastAPI + DuckDB Local Store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62025" y="381000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Impact Engine: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NetworkX + GeoPandas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62025" y="436245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Optimization Engine: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OR-Tools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962025" y="491490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Cold Chain Engine: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Pydantic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962025" y="546735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Explanation Layer: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Granite via watsonx.ai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Technical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Architecture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7622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147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671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196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9720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524500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581025" y="2495550"/>
            <a:ext cx="52768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IBM Bob IDE was used as the core development partner for architecture, implementation, testing, documentation, and code review.</a:t>
            </a:r>
            <a:endParaRPr/>
          </a:p>
        </p:txBody>
      </p:sp>
      <p:pic>
        <p:nvPicPr>
          <p:cNvPr id="296" name="Google Shape;29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57400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962025" y="3676650"/>
            <a:ext cx="4895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Every relevant task is exported to the bob_sessions folder for judging.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962025" y="4543425"/>
            <a:ext cx="4895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Bob ensured that the solution is auditable, well-tested, and aligned with best practices.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IBM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Bob IDE</a:t>
            </a: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Integration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338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00575"/>
            <a:ext cx="1143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8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19362"/>
            <a:ext cx="5372101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66987"/>
            <a:ext cx="53721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91012"/>
            <a:ext cx="53721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338637"/>
            <a:ext cx="5372101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581025" y="1443037"/>
            <a:ext cx="110299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ChainShield turns disruption data into evidence-backed action before cargo, capacity, and customer commitments are lost.</a:t>
            </a:r>
            <a:endParaRPr/>
          </a:p>
        </p:txBody>
      </p:sp>
      <p:pic>
        <p:nvPicPr>
          <p:cNvPr id="313" name="Google Shape;31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3937" y="6110287"/>
            <a:ext cx="2524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1843137" y="2679962"/>
            <a:ext cx="2847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Under 60 Secs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2529287" y="3614737"/>
            <a:ext cx="130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DECISION TIME</a:t>
            </a:r>
            <a:endParaRPr dirty="0"/>
          </a:p>
        </p:txBody>
      </p:sp>
      <p:sp>
        <p:nvSpPr>
          <p:cNvPr id="316" name="Google Shape;316;p24"/>
          <p:cNvSpPr txBox="1"/>
          <p:nvPr/>
        </p:nvSpPr>
        <p:spPr>
          <a:xfrm>
            <a:off x="8705850" y="2862262"/>
            <a:ext cx="43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0%</a:t>
            </a:r>
            <a:endParaRPr dirty="0"/>
          </a:p>
        </p:txBody>
      </p:sp>
      <p:sp>
        <p:nvSpPr>
          <p:cNvPr id="317" name="Google Shape;317;p24"/>
          <p:cNvSpPr txBox="1"/>
          <p:nvPr/>
        </p:nvSpPr>
        <p:spPr>
          <a:xfrm>
            <a:off x="7496163" y="3671887"/>
            <a:ext cx="285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ROUTE CONSTRAINT VIOLATIONS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2828925" y="4586287"/>
            <a:ext cx="876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98%+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928775" y="5414962"/>
            <a:ext cx="27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EXCURSION DETECTION RECALL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8377237" y="4586287"/>
            <a:ext cx="1095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3B82F6"/>
                </a:solidFill>
                <a:latin typeface="Azeret Mono"/>
                <a:ea typeface="Azeret Mono"/>
                <a:cs typeface="Azeret Mono"/>
                <a:sym typeface="Azeret Mono"/>
              </a:rPr>
              <a:t>$8.7M</a:t>
            </a:r>
            <a:endParaRPr dirty="0"/>
          </a:p>
        </p:txBody>
      </p:sp>
      <p:sp>
        <p:nvSpPr>
          <p:cNvPr id="321" name="Google Shape;321;p24"/>
          <p:cNvSpPr txBox="1"/>
          <p:nvPr/>
        </p:nvSpPr>
        <p:spPr>
          <a:xfrm>
            <a:off x="7477113" y="5414962"/>
            <a:ext cx="289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CARGO VALUE AT RISK IDENTIFIED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581025" y="395287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Operational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Impact &amp; Metrics</a:t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581025" y="1042987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92896"/>
            <a:ext cx="2543175" cy="251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692896"/>
            <a:ext cx="2543175" cy="251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692896"/>
            <a:ext cx="2543175" cy="2519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67800" y="2692896"/>
            <a:ext cx="2543175" cy="251995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/>
          <p:nvPr/>
        </p:nvSpPr>
        <p:spPr>
          <a:xfrm>
            <a:off x="727471" y="3492996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Devanshi Shah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781050" y="3864471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Backend / Data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781050" y="4159746"/>
            <a:ext cx="2143125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Architected the core FastAPI backend and engineered the DuckDB analytical store for high-speed data ingestion.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3556396" y="3492996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Atharva Bhatt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3609975" y="3864471"/>
            <a:ext cx="21431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Optimization / </a:t>
            </a:r>
            <a:r>
              <a:rPr lang="en-US" sz="1050" b="0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Algorithmic Topology</a:t>
            </a:r>
            <a:endParaRPr dirty="0"/>
          </a:p>
        </p:txBody>
      </p:sp>
      <p:sp>
        <p:nvSpPr>
          <p:cNvPr id="338" name="Google Shape;338;p25"/>
          <p:cNvSpPr txBox="1"/>
          <p:nvPr/>
        </p:nvSpPr>
        <p:spPr>
          <a:xfrm>
            <a:off x="3609975" y="4159746"/>
            <a:ext cx="2143125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Developed the constraint-based routing logic using Google OR-Tools and NetworkX graph propagation.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385321" y="3492996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Rutu Modi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438900" y="3864471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AI &amp; Cold Chain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438900" y="4159746"/>
            <a:ext cx="2143125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Built the deterministic Cold Chain engine and integrated watsonx.ai Granite for explainable recommendations.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9214246" y="3492996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Harsh Aacharya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9267825" y="3864471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E635"/>
                </a:solidFill>
                <a:latin typeface="Azeret Mono"/>
                <a:ea typeface="Azeret Mono"/>
                <a:cs typeface="Azeret Mono"/>
                <a:sym typeface="Azeret Mono"/>
              </a:rPr>
              <a:t>Frontend / UX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9267825" y="4159746"/>
            <a:ext cx="2143125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Designed and implemented the React interface, translating complex data sets into an intuitive operator dashboard.</a:t>
            </a:r>
            <a:endParaRPr/>
          </a:p>
        </p:txBody>
      </p:sp>
      <p:pic>
        <p:nvPicPr>
          <p:cNvPr id="345" name="Google Shape;34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0212" y="2921496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10087" y="29214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9012" y="292149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25075" y="2921496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The </a:t>
            </a:r>
            <a:r>
              <a:rPr lang="en-US" sz="3300" b="0" i="0" u="none" strike="noStrike" cap="none">
                <a:solidFill>
                  <a:srgbClr val="A3E635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ChainShield</a:t>
            </a:r>
            <a:r>
              <a:rPr lang="en-US" sz="33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 Team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Widescreen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Urbanist Medium</vt:lpstr>
      <vt:lpstr>Azeret Mono</vt:lpstr>
      <vt:lpstr>Calibri</vt:lpstr>
      <vt:lpstr>Urbanist ExtraBold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Atharva</dc:creator>
  <cp:lastModifiedBy>Atharva Bhatt</cp:lastModifiedBy>
  <cp:revision>1</cp:revision>
  <dcterms:modified xsi:type="dcterms:W3CDTF">2026-09-15T16:34:56Z</dcterms:modified>
</cp:coreProperties>
</file>